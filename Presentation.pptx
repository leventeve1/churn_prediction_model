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86876"/>
    <a:srgbClr val="393941"/>
    <a:srgbClr val="F6F6F8"/>
    <a:srgbClr val="CFD0DF"/>
    <a:srgbClr val="8D8D9B"/>
    <a:srgbClr val="9EA0BE"/>
    <a:srgbClr val="C1C2D5"/>
    <a:srgbClr val="EBEB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5F6DDE-2472-4478-AD7E-7953CA769719}" v="321" dt="2026-02-17T13:58:20.059"/>
    <p1510:client id="{A71C5A42-DBCA-464E-B1E1-B85F157D2396}" v="849" dt="2026-02-17T14:10:00.3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950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8E386EC-BD27-4CBC-95FC-61C7937C3B5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FB1FADD-5F34-4E90-9BEB-B0CCF960B0D5}">
      <dgm:prSet/>
      <dgm:spPr>
        <a:solidFill>
          <a:srgbClr val="00B050"/>
        </a:solidFill>
        <a:ln>
          <a:solidFill>
            <a:srgbClr val="CFD0DF"/>
          </a:solidFill>
        </a:ln>
      </dgm:spPr>
      <dgm:t>
        <a:bodyPr/>
        <a:lstStyle/>
        <a:p>
          <a:r>
            <a:rPr lang="en-US" b="1"/>
            <a:t>SPOTIFY</a:t>
          </a:r>
          <a:endParaRPr lang="en-US"/>
        </a:p>
      </dgm:t>
    </dgm:pt>
    <dgm:pt modelId="{0830FF99-4B8E-41E8-B3D7-D94379A25A7E}" type="parTrans" cxnId="{786C73E6-BD24-41BD-B318-3E6268114F0C}">
      <dgm:prSet/>
      <dgm:spPr/>
      <dgm:t>
        <a:bodyPr/>
        <a:lstStyle/>
        <a:p>
          <a:endParaRPr lang="en-US"/>
        </a:p>
      </dgm:t>
    </dgm:pt>
    <dgm:pt modelId="{6CC1399C-0827-4639-A6A5-25ECF0B29B33}" type="sibTrans" cxnId="{786C73E6-BD24-41BD-B318-3E6268114F0C}">
      <dgm:prSet/>
      <dgm:spPr/>
      <dgm:t>
        <a:bodyPr/>
        <a:lstStyle/>
        <a:p>
          <a:endParaRPr lang="en-US"/>
        </a:p>
      </dgm:t>
    </dgm:pt>
    <dgm:pt modelId="{C70AE52B-1F5E-43C1-B9C2-4EF8E8729DF1}">
      <dgm:prSet/>
      <dgm:spPr/>
      <dgm:t>
        <a:bodyPr/>
        <a:lstStyle/>
        <a:p>
          <a:r>
            <a:rPr lang="en-US" dirty="0">
              <a:solidFill>
                <a:srgbClr val="686876"/>
              </a:solidFill>
            </a:rPr>
            <a:t>has </a:t>
          </a:r>
          <a:r>
            <a:rPr lang="en-US" b="1" dirty="0">
              <a:solidFill>
                <a:srgbClr val="686876"/>
              </a:solidFill>
            </a:rPr>
            <a:t>hundreds of millions of users and billions of tracks &amp; playlists</a:t>
          </a:r>
          <a:endParaRPr lang="en-US" dirty="0">
            <a:solidFill>
              <a:srgbClr val="686876"/>
            </a:solidFill>
          </a:endParaRPr>
        </a:p>
      </dgm:t>
    </dgm:pt>
    <dgm:pt modelId="{2E765CE8-454F-4618-95A7-BE533B6E75BA}" type="parTrans" cxnId="{B9199286-0CE8-447E-A435-0CBB2DBA45A5}">
      <dgm:prSet/>
      <dgm:spPr/>
      <dgm:t>
        <a:bodyPr/>
        <a:lstStyle/>
        <a:p>
          <a:endParaRPr lang="en-US"/>
        </a:p>
      </dgm:t>
    </dgm:pt>
    <dgm:pt modelId="{8CBDA166-C519-419A-9B29-E3F880FDB508}" type="sibTrans" cxnId="{B9199286-0CE8-447E-A435-0CBB2DBA45A5}">
      <dgm:prSet/>
      <dgm:spPr/>
      <dgm:t>
        <a:bodyPr/>
        <a:lstStyle/>
        <a:p>
          <a:endParaRPr lang="en-US"/>
        </a:p>
      </dgm:t>
    </dgm:pt>
    <dgm:pt modelId="{44E3AACD-58CE-40EF-B7B2-24BB7AC067DF}">
      <dgm:prSet/>
      <dgm:spPr/>
      <dgm:t>
        <a:bodyPr/>
        <a:lstStyle/>
        <a:p>
          <a:r>
            <a:rPr lang="en-US" dirty="0">
              <a:solidFill>
                <a:srgbClr val="686876"/>
              </a:solidFill>
            </a:rPr>
            <a:t>heavily uses </a:t>
          </a:r>
          <a:r>
            <a:rPr lang="en-US" b="1" dirty="0">
              <a:solidFill>
                <a:srgbClr val="686876"/>
              </a:solidFill>
            </a:rPr>
            <a:t>data analytics and machine learning to enhance user experience</a:t>
          </a:r>
          <a:endParaRPr lang="en-US" dirty="0">
            <a:solidFill>
              <a:srgbClr val="686876"/>
            </a:solidFill>
          </a:endParaRPr>
        </a:p>
      </dgm:t>
    </dgm:pt>
    <dgm:pt modelId="{CD8ABBD4-C5E6-4B84-BCFF-A6FE98DF1511}" type="parTrans" cxnId="{AC2E2C98-30B6-4C9B-A672-22A8F78CB4F2}">
      <dgm:prSet/>
      <dgm:spPr/>
      <dgm:t>
        <a:bodyPr/>
        <a:lstStyle/>
        <a:p>
          <a:endParaRPr lang="en-US"/>
        </a:p>
      </dgm:t>
    </dgm:pt>
    <dgm:pt modelId="{30BE09CA-9DB2-4E67-B6E3-93BF2CA8DA1C}" type="sibTrans" cxnId="{AC2E2C98-30B6-4C9B-A672-22A8F78CB4F2}">
      <dgm:prSet/>
      <dgm:spPr/>
      <dgm:t>
        <a:bodyPr/>
        <a:lstStyle/>
        <a:p>
          <a:endParaRPr lang="en-US"/>
        </a:p>
      </dgm:t>
    </dgm:pt>
    <dgm:pt modelId="{766133D0-7453-4CD0-B91C-78149A515430}">
      <dgm:prSet/>
      <dgm:spPr/>
      <dgm:t>
        <a:bodyPr/>
        <a:lstStyle/>
        <a:p>
          <a:r>
            <a:rPr lang="en-US" b="1" dirty="0">
              <a:solidFill>
                <a:srgbClr val="686876"/>
              </a:solidFill>
            </a:rPr>
            <a:t>Spotify Wrapped</a:t>
          </a:r>
          <a:r>
            <a:rPr lang="en-US" dirty="0">
              <a:solidFill>
                <a:srgbClr val="686876"/>
              </a:solidFill>
            </a:rPr>
            <a:t> turns listening data into engaging visual stories</a:t>
          </a:r>
        </a:p>
      </dgm:t>
    </dgm:pt>
    <dgm:pt modelId="{0E5F2DCA-EEF9-411A-B8D2-C4AA1B4B2CF4}" type="parTrans" cxnId="{7BB06E08-7071-4A91-AE5C-CF7A34EAD873}">
      <dgm:prSet/>
      <dgm:spPr/>
      <dgm:t>
        <a:bodyPr/>
        <a:lstStyle/>
        <a:p>
          <a:endParaRPr lang="en-US"/>
        </a:p>
      </dgm:t>
    </dgm:pt>
    <dgm:pt modelId="{29B76FA8-42FE-42F5-AAF0-26DFBEAC387F}" type="sibTrans" cxnId="{7BB06E08-7071-4A91-AE5C-CF7A34EAD873}">
      <dgm:prSet/>
      <dgm:spPr/>
      <dgm:t>
        <a:bodyPr/>
        <a:lstStyle/>
        <a:p>
          <a:endParaRPr lang="en-US"/>
        </a:p>
      </dgm:t>
    </dgm:pt>
    <dgm:pt modelId="{C9219E33-FAE8-4BF6-ACEF-393F05F12959}">
      <dgm:prSet/>
      <dgm:spPr/>
      <dgm:t>
        <a:bodyPr/>
        <a:lstStyle/>
        <a:p>
          <a:r>
            <a:rPr lang="en-US" dirty="0">
              <a:solidFill>
                <a:srgbClr val="686876"/>
              </a:solidFill>
            </a:rPr>
            <a:t>Personalization increases </a:t>
          </a:r>
          <a:r>
            <a:rPr lang="en-US" b="1" dirty="0">
              <a:solidFill>
                <a:srgbClr val="686876"/>
              </a:solidFill>
            </a:rPr>
            <a:t>premium subscriptions and engagement</a:t>
          </a:r>
          <a:endParaRPr lang="en-US" dirty="0">
            <a:solidFill>
              <a:srgbClr val="686876"/>
            </a:solidFill>
          </a:endParaRPr>
        </a:p>
      </dgm:t>
    </dgm:pt>
    <dgm:pt modelId="{35CB6262-3956-48F3-B2E9-6C21D6D9D93B}" type="parTrans" cxnId="{D301284E-DE76-4484-982B-4AD5F488D325}">
      <dgm:prSet/>
      <dgm:spPr/>
      <dgm:t>
        <a:bodyPr/>
        <a:lstStyle/>
        <a:p>
          <a:endParaRPr lang="en-US"/>
        </a:p>
      </dgm:t>
    </dgm:pt>
    <dgm:pt modelId="{940F5848-BBA6-4BDE-9DC1-B3D499362454}" type="sibTrans" cxnId="{D301284E-DE76-4484-982B-4AD5F488D325}">
      <dgm:prSet/>
      <dgm:spPr/>
      <dgm:t>
        <a:bodyPr/>
        <a:lstStyle/>
        <a:p>
          <a:endParaRPr lang="en-US"/>
        </a:p>
      </dgm:t>
    </dgm:pt>
    <dgm:pt modelId="{D379607C-3FBD-446B-AA49-BD0498FCAFEA}">
      <dgm:prSet/>
      <dgm:spPr>
        <a:solidFill>
          <a:srgbClr val="C00000"/>
        </a:solidFill>
        <a:ln>
          <a:solidFill>
            <a:srgbClr val="CFD0DF"/>
          </a:solidFill>
        </a:ln>
      </dgm:spPr>
      <dgm:t>
        <a:bodyPr/>
        <a:lstStyle/>
        <a:p>
          <a:r>
            <a:rPr lang="en-US" b="1" dirty="0"/>
            <a:t>TESLA</a:t>
          </a:r>
          <a:endParaRPr lang="en-US" dirty="0"/>
        </a:p>
      </dgm:t>
    </dgm:pt>
    <dgm:pt modelId="{B0383A01-62CC-4857-AD98-F38BFAFBA031}" type="parTrans" cxnId="{4C4F582B-2328-4E6B-9E23-5B4CD00E32A7}">
      <dgm:prSet/>
      <dgm:spPr/>
      <dgm:t>
        <a:bodyPr/>
        <a:lstStyle/>
        <a:p>
          <a:endParaRPr lang="en-US"/>
        </a:p>
      </dgm:t>
    </dgm:pt>
    <dgm:pt modelId="{6863FA16-9F82-4171-9B58-8D81FFC03FB6}" type="sibTrans" cxnId="{4C4F582B-2328-4E6B-9E23-5B4CD00E32A7}">
      <dgm:prSet/>
      <dgm:spPr/>
      <dgm:t>
        <a:bodyPr/>
        <a:lstStyle/>
        <a:p>
          <a:endParaRPr lang="en-US"/>
        </a:p>
      </dgm:t>
    </dgm:pt>
    <dgm:pt modelId="{8D084A9D-E453-46A4-B2E2-CF6490F588B1}">
      <dgm:prSet/>
      <dgm:spPr/>
      <dgm:t>
        <a:bodyPr/>
        <a:lstStyle/>
        <a:p>
          <a:r>
            <a:rPr lang="en-US">
              <a:solidFill>
                <a:srgbClr val="686876"/>
              </a:solidFill>
            </a:rPr>
            <a:t>leverages 3B+ miles </a:t>
          </a:r>
          <a:r>
            <a:rPr lang="en-US" b="1">
              <a:solidFill>
                <a:srgbClr val="686876"/>
              </a:solidFill>
            </a:rPr>
            <a:t>driving data</a:t>
          </a:r>
          <a:r>
            <a:rPr lang="en-US">
              <a:solidFill>
                <a:srgbClr val="686876"/>
              </a:solidFill>
            </a:rPr>
            <a:t>, giving a significant </a:t>
          </a:r>
          <a:r>
            <a:rPr lang="en-US" b="1">
              <a:solidFill>
                <a:srgbClr val="686876"/>
              </a:solidFill>
            </a:rPr>
            <a:t>advantage</a:t>
          </a:r>
          <a:r>
            <a:rPr lang="en-US">
              <a:solidFill>
                <a:srgbClr val="686876"/>
              </a:solidFill>
            </a:rPr>
            <a:t> over other competitors with less data</a:t>
          </a:r>
        </a:p>
      </dgm:t>
    </dgm:pt>
    <dgm:pt modelId="{F16CCEC2-B8C5-468A-8701-B9E5864194A2}" type="parTrans" cxnId="{CF7C4E23-47E2-47B3-A327-B525C4586B67}">
      <dgm:prSet/>
      <dgm:spPr/>
      <dgm:t>
        <a:bodyPr/>
        <a:lstStyle/>
        <a:p>
          <a:endParaRPr lang="en-US"/>
        </a:p>
      </dgm:t>
    </dgm:pt>
    <dgm:pt modelId="{5070C852-FD1D-45B7-BA95-F7AA3D9EB0F7}" type="sibTrans" cxnId="{CF7C4E23-47E2-47B3-A327-B525C4586B67}">
      <dgm:prSet/>
      <dgm:spPr/>
      <dgm:t>
        <a:bodyPr/>
        <a:lstStyle/>
        <a:p>
          <a:endParaRPr lang="en-US"/>
        </a:p>
      </dgm:t>
    </dgm:pt>
    <dgm:pt modelId="{7E9D5342-4318-45D3-872F-B9FDC9DCFDBF}">
      <dgm:prSet/>
      <dgm:spPr/>
      <dgm:t>
        <a:bodyPr/>
        <a:lstStyle/>
        <a:p>
          <a:r>
            <a:rPr lang="en-US" dirty="0">
              <a:solidFill>
                <a:srgbClr val="686876"/>
              </a:solidFill>
            </a:rPr>
            <a:t>the data </a:t>
          </a:r>
          <a:r>
            <a:rPr lang="en-US" b="1" dirty="0">
              <a:solidFill>
                <a:srgbClr val="686876"/>
              </a:solidFill>
            </a:rPr>
            <a:t>improves</a:t>
          </a:r>
          <a:r>
            <a:rPr lang="en-US" dirty="0">
              <a:solidFill>
                <a:srgbClr val="686876"/>
              </a:solidFill>
            </a:rPr>
            <a:t> </a:t>
          </a:r>
          <a:r>
            <a:rPr lang="en-US" b="1" dirty="0">
              <a:solidFill>
                <a:srgbClr val="686876"/>
              </a:solidFill>
            </a:rPr>
            <a:t>Autopilot </a:t>
          </a:r>
          <a:r>
            <a:rPr lang="en-US" dirty="0">
              <a:solidFill>
                <a:srgbClr val="686876"/>
              </a:solidFill>
            </a:rPr>
            <a:t>via</a:t>
          </a:r>
          <a:r>
            <a:rPr lang="en-US" b="1" dirty="0">
              <a:solidFill>
                <a:srgbClr val="686876"/>
              </a:solidFill>
            </a:rPr>
            <a:t> </a:t>
          </a:r>
          <a:r>
            <a:rPr lang="en-US" dirty="0">
              <a:solidFill>
                <a:srgbClr val="686876"/>
              </a:solidFill>
            </a:rPr>
            <a:t>OTA</a:t>
          </a:r>
          <a:r>
            <a:rPr lang="en-US" b="1" dirty="0">
              <a:solidFill>
                <a:srgbClr val="686876"/>
              </a:solidFill>
            </a:rPr>
            <a:t> </a:t>
          </a:r>
          <a:r>
            <a:rPr lang="en-US" dirty="0">
              <a:solidFill>
                <a:srgbClr val="686876"/>
              </a:solidFill>
            </a:rPr>
            <a:t>AI</a:t>
          </a:r>
          <a:r>
            <a:rPr lang="en-US" b="1" dirty="0">
              <a:solidFill>
                <a:srgbClr val="686876"/>
              </a:solidFill>
            </a:rPr>
            <a:t> </a:t>
          </a:r>
          <a:r>
            <a:rPr lang="en-US" dirty="0">
              <a:solidFill>
                <a:srgbClr val="686876"/>
              </a:solidFill>
            </a:rPr>
            <a:t>updates, </a:t>
          </a:r>
          <a:r>
            <a:rPr lang="en-US" b="1" dirty="0" err="1">
              <a:solidFill>
                <a:srgbClr val="686876"/>
              </a:solidFill>
            </a:rPr>
            <a:t>continiously</a:t>
          </a:r>
          <a:r>
            <a:rPr lang="en-US" dirty="0">
              <a:solidFill>
                <a:srgbClr val="686876"/>
              </a:solidFill>
            </a:rPr>
            <a:t> </a:t>
          </a:r>
          <a:r>
            <a:rPr lang="en-US" b="1" dirty="0">
              <a:solidFill>
                <a:srgbClr val="686876"/>
              </a:solidFill>
            </a:rPr>
            <a:t>analyzing</a:t>
          </a:r>
          <a:r>
            <a:rPr lang="en-US" dirty="0">
              <a:solidFill>
                <a:srgbClr val="686876"/>
              </a:solidFill>
            </a:rPr>
            <a:t> drivers</a:t>
          </a:r>
        </a:p>
      </dgm:t>
    </dgm:pt>
    <dgm:pt modelId="{FFB713DF-A869-4C2B-94F6-9858E176A8A9}" type="parTrans" cxnId="{4580FDB3-46CC-4B1D-91E6-97A973C87B12}">
      <dgm:prSet/>
      <dgm:spPr/>
      <dgm:t>
        <a:bodyPr/>
        <a:lstStyle/>
        <a:p>
          <a:endParaRPr lang="en-US"/>
        </a:p>
      </dgm:t>
    </dgm:pt>
    <dgm:pt modelId="{92251892-C103-4949-B280-73F14007F650}" type="sibTrans" cxnId="{4580FDB3-46CC-4B1D-91E6-97A973C87B12}">
      <dgm:prSet/>
      <dgm:spPr/>
      <dgm:t>
        <a:bodyPr/>
        <a:lstStyle/>
        <a:p>
          <a:endParaRPr lang="en-US"/>
        </a:p>
      </dgm:t>
    </dgm:pt>
    <dgm:pt modelId="{CEC763B3-DE9E-40F3-9214-392AC02EDB97}">
      <dgm:prSet/>
      <dgm:spPr/>
      <dgm:t>
        <a:bodyPr/>
        <a:lstStyle/>
        <a:p>
          <a:r>
            <a:rPr lang="en-US" dirty="0">
              <a:solidFill>
                <a:srgbClr val="686876"/>
              </a:solidFill>
            </a:rPr>
            <a:t>Tesla </a:t>
          </a:r>
          <a:r>
            <a:rPr lang="en-US" b="1" dirty="0">
              <a:solidFill>
                <a:srgbClr val="686876"/>
              </a:solidFill>
            </a:rPr>
            <a:t>monetizes driver data </a:t>
          </a:r>
          <a:r>
            <a:rPr lang="en-US" dirty="0">
              <a:solidFill>
                <a:srgbClr val="686876"/>
              </a:solidFill>
            </a:rPr>
            <a:t>(braking, acceleration </a:t>
          </a:r>
          <a:r>
            <a:rPr lang="en-US" dirty="0" err="1">
              <a:solidFill>
                <a:srgbClr val="686876"/>
              </a:solidFill>
            </a:rPr>
            <a:t>etc</a:t>
          </a:r>
          <a:r>
            <a:rPr lang="en-US" dirty="0">
              <a:solidFill>
                <a:srgbClr val="686876"/>
              </a:solidFill>
            </a:rPr>
            <a:t>) by accessing risks, and offering </a:t>
          </a:r>
          <a:r>
            <a:rPr lang="en-US" b="1" dirty="0">
              <a:solidFill>
                <a:srgbClr val="686876"/>
              </a:solidFill>
            </a:rPr>
            <a:t>personalized insurance </a:t>
          </a:r>
          <a:r>
            <a:rPr lang="en-US" dirty="0">
              <a:solidFill>
                <a:srgbClr val="686876"/>
              </a:solidFill>
            </a:rPr>
            <a:t>rates</a:t>
          </a:r>
          <a:br>
            <a:rPr lang="en-US" dirty="0">
              <a:solidFill>
                <a:srgbClr val="686876"/>
              </a:solidFill>
            </a:rPr>
          </a:br>
          <a:endParaRPr lang="en-US" dirty="0">
            <a:solidFill>
              <a:srgbClr val="686876"/>
            </a:solidFill>
          </a:endParaRPr>
        </a:p>
      </dgm:t>
    </dgm:pt>
    <dgm:pt modelId="{B4BC4D81-03D8-446C-9D07-28014C30902C}" type="parTrans" cxnId="{7BEB21B7-1254-4423-827C-88D0A3CCEEF5}">
      <dgm:prSet/>
      <dgm:spPr/>
      <dgm:t>
        <a:bodyPr/>
        <a:lstStyle/>
        <a:p>
          <a:endParaRPr lang="en-US"/>
        </a:p>
      </dgm:t>
    </dgm:pt>
    <dgm:pt modelId="{18E5FBF8-C526-4556-A5D5-3D78BD0EB2EC}" type="sibTrans" cxnId="{7BEB21B7-1254-4423-827C-88D0A3CCEEF5}">
      <dgm:prSet/>
      <dgm:spPr/>
      <dgm:t>
        <a:bodyPr/>
        <a:lstStyle/>
        <a:p>
          <a:endParaRPr lang="en-US"/>
        </a:p>
      </dgm:t>
    </dgm:pt>
    <dgm:pt modelId="{4B3C4A9C-A47D-4E29-B677-2AA8A129F547}" type="pres">
      <dgm:prSet presAssocID="{D8E386EC-BD27-4CBC-95FC-61C7937C3B57}" presName="linear" presStyleCnt="0">
        <dgm:presLayoutVars>
          <dgm:animLvl val="lvl"/>
          <dgm:resizeHandles val="exact"/>
        </dgm:presLayoutVars>
      </dgm:prSet>
      <dgm:spPr/>
    </dgm:pt>
    <dgm:pt modelId="{452307A8-8D27-4478-9532-FDADAA86B232}" type="pres">
      <dgm:prSet presAssocID="{5FB1FADD-5F34-4E90-9BEB-B0CCF960B0D5}" presName="parentText" presStyleLbl="node1" presStyleIdx="0" presStyleCnt="2" custLinFactNeighborX="13537" custLinFactNeighborY="-74876">
        <dgm:presLayoutVars>
          <dgm:chMax val="0"/>
          <dgm:bulletEnabled val="1"/>
        </dgm:presLayoutVars>
      </dgm:prSet>
      <dgm:spPr/>
    </dgm:pt>
    <dgm:pt modelId="{0E5FF7D0-D475-428A-8A02-1D54A6C6AD14}" type="pres">
      <dgm:prSet presAssocID="{5FB1FADD-5F34-4E90-9BEB-B0CCF960B0D5}" presName="childText" presStyleLbl="revTx" presStyleIdx="0" presStyleCnt="2">
        <dgm:presLayoutVars>
          <dgm:bulletEnabled val="1"/>
        </dgm:presLayoutVars>
      </dgm:prSet>
      <dgm:spPr/>
    </dgm:pt>
    <dgm:pt modelId="{CC678076-0D2B-4BD4-93BC-6A4E3CD108E9}" type="pres">
      <dgm:prSet presAssocID="{D379607C-3FBD-446B-AA49-BD0498FCAFEA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C64B0966-BFAD-4571-B6AE-29109A359800}" type="pres">
      <dgm:prSet presAssocID="{D379607C-3FBD-446B-AA49-BD0498FCAFEA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7BB06E08-7071-4A91-AE5C-CF7A34EAD873}" srcId="{5FB1FADD-5F34-4E90-9BEB-B0CCF960B0D5}" destId="{766133D0-7453-4CD0-B91C-78149A515430}" srcOrd="2" destOrd="0" parTransId="{0E5F2DCA-EEF9-411A-B8D2-C4AA1B4B2CF4}" sibTransId="{29B76FA8-42FE-42F5-AAF0-26DFBEAC387F}"/>
    <dgm:cxn modelId="{CF7C4E23-47E2-47B3-A327-B525C4586B67}" srcId="{D379607C-3FBD-446B-AA49-BD0498FCAFEA}" destId="{8D084A9D-E453-46A4-B2E2-CF6490F588B1}" srcOrd="0" destOrd="0" parTransId="{F16CCEC2-B8C5-468A-8701-B9E5864194A2}" sibTransId="{5070C852-FD1D-45B7-BA95-F7AA3D9EB0F7}"/>
    <dgm:cxn modelId="{18926A2B-34DF-4C55-80AF-CCB64F84B3CF}" type="presOf" srcId="{D379607C-3FBD-446B-AA49-BD0498FCAFEA}" destId="{CC678076-0D2B-4BD4-93BC-6A4E3CD108E9}" srcOrd="0" destOrd="0" presId="urn:microsoft.com/office/officeart/2005/8/layout/vList2"/>
    <dgm:cxn modelId="{4C4F582B-2328-4E6B-9E23-5B4CD00E32A7}" srcId="{D8E386EC-BD27-4CBC-95FC-61C7937C3B57}" destId="{D379607C-3FBD-446B-AA49-BD0498FCAFEA}" srcOrd="1" destOrd="0" parTransId="{B0383A01-62CC-4857-AD98-F38BFAFBA031}" sibTransId="{6863FA16-9F82-4171-9B58-8D81FFC03FB6}"/>
    <dgm:cxn modelId="{83755630-C609-4107-89A2-685B419A56B8}" type="presOf" srcId="{C70AE52B-1F5E-43C1-B9C2-4EF8E8729DF1}" destId="{0E5FF7D0-D475-428A-8A02-1D54A6C6AD14}" srcOrd="0" destOrd="0" presId="urn:microsoft.com/office/officeart/2005/8/layout/vList2"/>
    <dgm:cxn modelId="{2053CB44-0E9A-4AE7-9ECC-5C675816B663}" type="presOf" srcId="{C9219E33-FAE8-4BF6-ACEF-393F05F12959}" destId="{0E5FF7D0-D475-428A-8A02-1D54A6C6AD14}" srcOrd="0" destOrd="3" presId="urn:microsoft.com/office/officeart/2005/8/layout/vList2"/>
    <dgm:cxn modelId="{D301284E-DE76-4484-982B-4AD5F488D325}" srcId="{5FB1FADD-5F34-4E90-9BEB-B0CCF960B0D5}" destId="{C9219E33-FAE8-4BF6-ACEF-393F05F12959}" srcOrd="3" destOrd="0" parTransId="{35CB6262-3956-48F3-B2E9-6C21D6D9D93B}" sibTransId="{940F5848-BBA6-4BDE-9DC1-B3D499362454}"/>
    <dgm:cxn modelId="{B0787372-BCD0-4085-BA92-3BB1D3ABCF41}" type="presOf" srcId="{CEC763B3-DE9E-40F3-9214-392AC02EDB97}" destId="{C64B0966-BFAD-4571-B6AE-29109A359800}" srcOrd="0" destOrd="2" presId="urn:microsoft.com/office/officeart/2005/8/layout/vList2"/>
    <dgm:cxn modelId="{8EB3F255-0015-48C1-BB2F-0954C9460EB5}" type="presOf" srcId="{D8E386EC-BD27-4CBC-95FC-61C7937C3B57}" destId="{4B3C4A9C-A47D-4E29-B677-2AA8A129F547}" srcOrd="0" destOrd="0" presId="urn:microsoft.com/office/officeart/2005/8/layout/vList2"/>
    <dgm:cxn modelId="{E8FB6B7C-53D1-4A6B-9BC7-7D8DF6A0FFC9}" type="presOf" srcId="{8D084A9D-E453-46A4-B2E2-CF6490F588B1}" destId="{C64B0966-BFAD-4571-B6AE-29109A359800}" srcOrd="0" destOrd="0" presId="urn:microsoft.com/office/officeart/2005/8/layout/vList2"/>
    <dgm:cxn modelId="{B9199286-0CE8-447E-A435-0CBB2DBA45A5}" srcId="{5FB1FADD-5F34-4E90-9BEB-B0CCF960B0D5}" destId="{C70AE52B-1F5E-43C1-B9C2-4EF8E8729DF1}" srcOrd="0" destOrd="0" parTransId="{2E765CE8-454F-4618-95A7-BE533B6E75BA}" sibTransId="{8CBDA166-C519-419A-9B29-E3F880FDB508}"/>
    <dgm:cxn modelId="{D8D90C8B-4932-4A8C-934A-36DC19612D82}" type="presOf" srcId="{7E9D5342-4318-45D3-872F-B9FDC9DCFDBF}" destId="{C64B0966-BFAD-4571-B6AE-29109A359800}" srcOrd="0" destOrd="1" presId="urn:microsoft.com/office/officeart/2005/8/layout/vList2"/>
    <dgm:cxn modelId="{AC2E2C98-30B6-4C9B-A672-22A8F78CB4F2}" srcId="{5FB1FADD-5F34-4E90-9BEB-B0CCF960B0D5}" destId="{44E3AACD-58CE-40EF-B7B2-24BB7AC067DF}" srcOrd="1" destOrd="0" parTransId="{CD8ABBD4-C5E6-4B84-BCFF-A6FE98DF1511}" sibTransId="{30BE09CA-9DB2-4E67-B6E3-93BF2CA8DA1C}"/>
    <dgm:cxn modelId="{A054DBA2-54FD-4B94-8D3E-385F54A36379}" type="presOf" srcId="{766133D0-7453-4CD0-B91C-78149A515430}" destId="{0E5FF7D0-D475-428A-8A02-1D54A6C6AD14}" srcOrd="0" destOrd="2" presId="urn:microsoft.com/office/officeart/2005/8/layout/vList2"/>
    <dgm:cxn modelId="{4580FDB3-46CC-4B1D-91E6-97A973C87B12}" srcId="{D379607C-3FBD-446B-AA49-BD0498FCAFEA}" destId="{7E9D5342-4318-45D3-872F-B9FDC9DCFDBF}" srcOrd="1" destOrd="0" parTransId="{FFB713DF-A869-4C2B-94F6-9858E176A8A9}" sibTransId="{92251892-C103-4949-B280-73F14007F650}"/>
    <dgm:cxn modelId="{7BEB21B7-1254-4423-827C-88D0A3CCEEF5}" srcId="{D379607C-3FBD-446B-AA49-BD0498FCAFEA}" destId="{CEC763B3-DE9E-40F3-9214-392AC02EDB97}" srcOrd="2" destOrd="0" parTransId="{B4BC4D81-03D8-446C-9D07-28014C30902C}" sibTransId="{18E5FBF8-C526-4556-A5D5-3D78BD0EB2EC}"/>
    <dgm:cxn modelId="{D31E3CE1-664C-4D3C-8775-549736A9A7B2}" type="presOf" srcId="{5FB1FADD-5F34-4E90-9BEB-B0CCF960B0D5}" destId="{452307A8-8D27-4478-9532-FDADAA86B232}" srcOrd="0" destOrd="0" presId="urn:microsoft.com/office/officeart/2005/8/layout/vList2"/>
    <dgm:cxn modelId="{786C73E6-BD24-41BD-B318-3E6268114F0C}" srcId="{D8E386EC-BD27-4CBC-95FC-61C7937C3B57}" destId="{5FB1FADD-5F34-4E90-9BEB-B0CCF960B0D5}" srcOrd="0" destOrd="0" parTransId="{0830FF99-4B8E-41E8-B3D7-D94379A25A7E}" sibTransId="{6CC1399C-0827-4639-A6A5-25ECF0B29B33}"/>
    <dgm:cxn modelId="{569FC9FA-A294-4D3F-9387-9E0E7715B205}" type="presOf" srcId="{44E3AACD-58CE-40EF-B7B2-24BB7AC067DF}" destId="{0E5FF7D0-D475-428A-8A02-1D54A6C6AD14}" srcOrd="0" destOrd="1" presId="urn:microsoft.com/office/officeart/2005/8/layout/vList2"/>
    <dgm:cxn modelId="{713FFB7C-53DE-4F96-A2B4-F67F3575621D}" type="presParOf" srcId="{4B3C4A9C-A47D-4E29-B677-2AA8A129F547}" destId="{452307A8-8D27-4478-9532-FDADAA86B232}" srcOrd="0" destOrd="0" presId="urn:microsoft.com/office/officeart/2005/8/layout/vList2"/>
    <dgm:cxn modelId="{F4B2E6A0-0AC1-4F21-8A98-8B9C3763F539}" type="presParOf" srcId="{4B3C4A9C-A47D-4E29-B677-2AA8A129F547}" destId="{0E5FF7D0-D475-428A-8A02-1D54A6C6AD14}" srcOrd="1" destOrd="0" presId="urn:microsoft.com/office/officeart/2005/8/layout/vList2"/>
    <dgm:cxn modelId="{F2DDEC96-158A-44D6-919E-F11300C5F54D}" type="presParOf" srcId="{4B3C4A9C-A47D-4E29-B677-2AA8A129F547}" destId="{CC678076-0D2B-4BD4-93BC-6A4E3CD108E9}" srcOrd="2" destOrd="0" presId="urn:microsoft.com/office/officeart/2005/8/layout/vList2"/>
    <dgm:cxn modelId="{96B1213B-479B-48B6-9BD4-DEAC9B378056}" type="presParOf" srcId="{4B3C4A9C-A47D-4E29-B677-2AA8A129F547}" destId="{C64B0966-BFAD-4571-B6AE-29109A359800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2307A8-8D27-4478-9532-FDADAA86B232}">
      <dsp:nvSpPr>
        <dsp:cNvPr id="0" name=""/>
        <dsp:cNvSpPr/>
      </dsp:nvSpPr>
      <dsp:spPr>
        <a:xfrm>
          <a:off x="0" y="0"/>
          <a:ext cx="10515600" cy="589679"/>
        </a:xfrm>
        <a:prstGeom prst="roundRect">
          <a:avLst/>
        </a:prstGeom>
        <a:solidFill>
          <a:srgbClr val="00B050"/>
        </a:solidFill>
        <a:ln w="19050" cap="flat" cmpd="sng" algn="ctr">
          <a:solidFill>
            <a:srgbClr val="CFD0DF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SPOTIFY</a:t>
          </a:r>
          <a:endParaRPr lang="en-US" sz="2400" kern="1200"/>
        </a:p>
      </dsp:txBody>
      <dsp:txXfrm>
        <a:off x="28786" y="28786"/>
        <a:ext cx="10458028" cy="532107"/>
      </dsp:txXfrm>
    </dsp:sp>
    <dsp:sp modelId="{0E5FF7D0-D475-428A-8A02-1D54A6C6AD14}">
      <dsp:nvSpPr>
        <dsp:cNvPr id="0" name=""/>
        <dsp:cNvSpPr/>
      </dsp:nvSpPr>
      <dsp:spPr>
        <a:xfrm>
          <a:off x="0" y="623168"/>
          <a:ext cx="10515600" cy="1316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 dirty="0">
              <a:solidFill>
                <a:srgbClr val="686876"/>
              </a:solidFill>
            </a:rPr>
            <a:t>has </a:t>
          </a:r>
          <a:r>
            <a:rPr lang="en-US" sz="1900" b="1" kern="1200" dirty="0">
              <a:solidFill>
                <a:srgbClr val="686876"/>
              </a:solidFill>
            </a:rPr>
            <a:t>hundreds of millions of users and billions of tracks &amp; playlists</a:t>
          </a:r>
          <a:endParaRPr lang="en-US" sz="1900" kern="1200" dirty="0">
            <a:solidFill>
              <a:srgbClr val="686876"/>
            </a:solidFill>
          </a:endParaRP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 dirty="0">
              <a:solidFill>
                <a:srgbClr val="686876"/>
              </a:solidFill>
            </a:rPr>
            <a:t>heavily uses </a:t>
          </a:r>
          <a:r>
            <a:rPr lang="en-US" sz="1900" b="1" kern="1200" dirty="0">
              <a:solidFill>
                <a:srgbClr val="686876"/>
              </a:solidFill>
            </a:rPr>
            <a:t>data analytics and machine learning to enhance user experience</a:t>
          </a:r>
          <a:endParaRPr lang="en-US" sz="1900" kern="1200" dirty="0">
            <a:solidFill>
              <a:srgbClr val="686876"/>
            </a:solidFill>
          </a:endParaRP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b="1" kern="1200" dirty="0">
              <a:solidFill>
                <a:srgbClr val="686876"/>
              </a:solidFill>
            </a:rPr>
            <a:t>Spotify Wrapped</a:t>
          </a:r>
          <a:r>
            <a:rPr lang="en-US" sz="1900" kern="1200" dirty="0">
              <a:solidFill>
                <a:srgbClr val="686876"/>
              </a:solidFill>
            </a:rPr>
            <a:t> turns listening data into engaging visual stories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 dirty="0">
              <a:solidFill>
                <a:srgbClr val="686876"/>
              </a:solidFill>
            </a:rPr>
            <a:t>Personalization increases </a:t>
          </a:r>
          <a:r>
            <a:rPr lang="en-US" sz="1900" b="1" kern="1200" dirty="0">
              <a:solidFill>
                <a:srgbClr val="686876"/>
              </a:solidFill>
            </a:rPr>
            <a:t>premium subscriptions and engagement</a:t>
          </a:r>
          <a:endParaRPr lang="en-US" sz="1900" kern="1200" dirty="0">
            <a:solidFill>
              <a:srgbClr val="686876"/>
            </a:solidFill>
          </a:endParaRPr>
        </a:p>
      </dsp:txBody>
      <dsp:txXfrm>
        <a:off x="0" y="623168"/>
        <a:ext cx="10515600" cy="1316520"/>
      </dsp:txXfrm>
    </dsp:sp>
    <dsp:sp modelId="{CC678076-0D2B-4BD4-93BC-6A4E3CD108E9}">
      <dsp:nvSpPr>
        <dsp:cNvPr id="0" name=""/>
        <dsp:cNvSpPr/>
      </dsp:nvSpPr>
      <dsp:spPr>
        <a:xfrm>
          <a:off x="0" y="1939689"/>
          <a:ext cx="10515600" cy="589679"/>
        </a:xfrm>
        <a:prstGeom prst="roundRect">
          <a:avLst/>
        </a:prstGeom>
        <a:solidFill>
          <a:srgbClr val="C00000"/>
        </a:solidFill>
        <a:ln w="19050" cap="flat" cmpd="sng" algn="ctr">
          <a:solidFill>
            <a:srgbClr val="CFD0DF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TESLA</a:t>
          </a:r>
          <a:endParaRPr lang="en-US" sz="2400" kern="1200" dirty="0"/>
        </a:p>
      </dsp:txBody>
      <dsp:txXfrm>
        <a:off x="28786" y="1968475"/>
        <a:ext cx="10458028" cy="532107"/>
      </dsp:txXfrm>
    </dsp:sp>
    <dsp:sp modelId="{C64B0966-BFAD-4571-B6AE-29109A359800}">
      <dsp:nvSpPr>
        <dsp:cNvPr id="0" name=""/>
        <dsp:cNvSpPr/>
      </dsp:nvSpPr>
      <dsp:spPr>
        <a:xfrm>
          <a:off x="0" y="2529369"/>
          <a:ext cx="10515600" cy="1788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>
              <a:solidFill>
                <a:srgbClr val="686876"/>
              </a:solidFill>
            </a:rPr>
            <a:t>leverages 3B+ miles </a:t>
          </a:r>
          <a:r>
            <a:rPr lang="en-US" sz="1900" b="1" kern="1200">
              <a:solidFill>
                <a:srgbClr val="686876"/>
              </a:solidFill>
            </a:rPr>
            <a:t>driving data</a:t>
          </a:r>
          <a:r>
            <a:rPr lang="en-US" sz="1900" kern="1200">
              <a:solidFill>
                <a:srgbClr val="686876"/>
              </a:solidFill>
            </a:rPr>
            <a:t>, giving a significant </a:t>
          </a:r>
          <a:r>
            <a:rPr lang="en-US" sz="1900" b="1" kern="1200">
              <a:solidFill>
                <a:srgbClr val="686876"/>
              </a:solidFill>
            </a:rPr>
            <a:t>advantage</a:t>
          </a:r>
          <a:r>
            <a:rPr lang="en-US" sz="1900" kern="1200">
              <a:solidFill>
                <a:srgbClr val="686876"/>
              </a:solidFill>
            </a:rPr>
            <a:t> over other competitors with less data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 dirty="0">
              <a:solidFill>
                <a:srgbClr val="686876"/>
              </a:solidFill>
            </a:rPr>
            <a:t>the data </a:t>
          </a:r>
          <a:r>
            <a:rPr lang="en-US" sz="1900" b="1" kern="1200" dirty="0">
              <a:solidFill>
                <a:srgbClr val="686876"/>
              </a:solidFill>
            </a:rPr>
            <a:t>improves</a:t>
          </a:r>
          <a:r>
            <a:rPr lang="en-US" sz="1900" kern="1200" dirty="0">
              <a:solidFill>
                <a:srgbClr val="686876"/>
              </a:solidFill>
            </a:rPr>
            <a:t> </a:t>
          </a:r>
          <a:r>
            <a:rPr lang="en-US" sz="1900" b="1" kern="1200" dirty="0">
              <a:solidFill>
                <a:srgbClr val="686876"/>
              </a:solidFill>
            </a:rPr>
            <a:t>Autopilot </a:t>
          </a:r>
          <a:r>
            <a:rPr lang="en-US" sz="1900" kern="1200" dirty="0">
              <a:solidFill>
                <a:srgbClr val="686876"/>
              </a:solidFill>
            </a:rPr>
            <a:t>via</a:t>
          </a:r>
          <a:r>
            <a:rPr lang="en-US" sz="1900" b="1" kern="1200" dirty="0">
              <a:solidFill>
                <a:srgbClr val="686876"/>
              </a:solidFill>
            </a:rPr>
            <a:t> </a:t>
          </a:r>
          <a:r>
            <a:rPr lang="en-US" sz="1900" kern="1200" dirty="0">
              <a:solidFill>
                <a:srgbClr val="686876"/>
              </a:solidFill>
            </a:rPr>
            <a:t>OTA</a:t>
          </a:r>
          <a:r>
            <a:rPr lang="en-US" sz="1900" b="1" kern="1200" dirty="0">
              <a:solidFill>
                <a:srgbClr val="686876"/>
              </a:solidFill>
            </a:rPr>
            <a:t> </a:t>
          </a:r>
          <a:r>
            <a:rPr lang="en-US" sz="1900" kern="1200" dirty="0">
              <a:solidFill>
                <a:srgbClr val="686876"/>
              </a:solidFill>
            </a:rPr>
            <a:t>AI</a:t>
          </a:r>
          <a:r>
            <a:rPr lang="en-US" sz="1900" b="1" kern="1200" dirty="0">
              <a:solidFill>
                <a:srgbClr val="686876"/>
              </a:solidFill>
            </a:rPr>
            <a:t> </a:t>
          </a:r>
          <a:r>
            <a:rPr lang="en-US" sz="1900" kern="1200" dirty="0">
              <a:solidFill>
                <a:srgbClr val="686876"/>
              </a:solidFill>
            </a:rPr>
            <a:t>updates, </a:t>
          </a:r>
          <a:r>
            <a:rPr lang="en-US" sz="1900" b="1" kern="1200" dirty="0" err="1">
              <a:solidFill>
                <a:srgbClr val="686876"/>
              </a:solidFill>
            </a:rPr>
            <a:t>continiously</a:t>
          </a:r>
          <a:r>
            <a:rPr lang="en-US" sz="1900" kern="1200" dirty="0">
              <a:solidFill>
                <a:srgbClr val="686876"/>
              </a:solidFill>
            </a:rPr>
            <a:t> </a:t>
          </a:r>
          <a:r>
            <a:rPr lang="en-US" sz="1900" b="1" kern="1200" dirty="0">
              <a:solidFill>
                <a:srgbClr val="686876"/>
              </a:solidFill>
            </a:rPr>
            <a:t>analyzing</a:t>
          </a:r>
          <a:r>
            <a:rPr lang="en-US" sz="1900" kern="1200" dirty="0">
              <a:solidFill>
                <a:srgbClr val="686876"/>
              </a:solidFill>
            </a:rPr>
            <a:t> drivers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 dirty="0">
              <a:solidFill>
                <a:srgbClr val="686876"/>
              </a:solidFill>
            </a:rPr>
            <a:t>Tesla </a:t>
          </a:r>
          <a:r>
            <a:rPr lang="en-US" sz="1900" b="1" kern="1200" dirty="0">
              <a:solidFill>
                <a:srgbClr val="686876"/>
              </a:solidFill>
            </a:rPr>
            <a:t>monetizes driver data </a:t>
          </a:r>
          <a:r>
            <a:rPr lang="en-US" sz="1900" kern="1200" dirty="0">
              <a:solidFill>
                <a:srgbClr val="686876"/>
              </a:solidFill>
            </a:rPr>
            <a:t>(braking, acceleration </a:t>
          </a:r>
          <a:r>
            <a:rPr lang="en-US" sz="1900" kern="1200" dirty="0" err="1">
              <a:solidFill>
                <a:srgbClr val="686876"/>
              </a:solidFill>
            </a:rPr>
            <a:t>etc</a:t>
          </a:r>
          <a:r>
            <a:rPr lang="en-US" sz="1900" kern="1200" dirty="0">
              <a:solidFill>
                <a:srgbClr val="686876"/>
              </a:solidFill>
            </a:rPr>
            <a:t>) by accessing risks, and offering </a:t>
          </a:r>
          <a:r>
            <a:rPr lang="en-US" sz="1900" b="1" kern="1200" dirty="0">
              <a:solidFill>
                <a:srgbClr val="686876"/>
              </a:solidFill>
            </a:rPr>
            <a:t>personalized insurance </a:t>
          </a:r>
          <a:r>
            <a:rPr lang="en-US" sz="1900" kern="1200" dirty="0">
              <a:solidFill>
                <a:srgbClr val="686876"/>
              </a:solidFill>
            </a:rPr>
            <a:t>rates</a:t>
          </a:r>
          <a:br>
            <a:rPr lang="en-US" sz="1900" kern="1200" dirty="0">
              <a:solidFill>
                <a:srgbClr val="686876"/>
              </a:solidFill>
            </a:rPr>
          </a:br>
          <a:endParaRPr lang="en-US" sz="1900" kern="1200" dirty="0">
            <a:solidFill>
              <a:srgbClr val="686876"/>
            </a:solidFill>
          </a:endParaRPr>
        </a:p>
      </dsp:txBody>
      <dsp:txXfrm>
        <a:off x="0" y="2529369"/>
        <a:ext cx="10515600" cy="17884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95DB361-5009-BD95-0504-7961942BE4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0CF23D26-137F-6C7B-E22C-B77F4F7D07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204DCEFC-C551-82FC-5DDD-E6376240A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94EF0-A0BF-435A-983B-C7C0AC811E79}" type="datetimeFigureOut">
              <a:rPr lang="hu-HU" smtClean="0"/>
              <a:t>2026. 02. 17.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65456C8-C6F7-4620-FEF6-5FF16E9A5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1F3CDAC0-759F-A262-5313-5E84736A7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567B2-4E2D-434C-9D62-761DCF85DFB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18838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619E5DE-CFBC-062F-ED79-F9FD841D0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17D5EC3-27FD-BE40-A4D7-D059FEF459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8A171FE-9B6D-9AEC-42A5-CBBBB9457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94EF0-A0BF-435A-983B-C7C0AC811E79}" type="datetimeFigureOut">
              <a:rPr lang="hu-HU" smtClean="0"/>
              <a:t>2026. 02. 17.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C3EF593-94FC-E5AB-7989-50F01D005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3954802E-DBA3-B874-73E3-DC06201C2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567B2-4E2D-434C-9D62-761DCF85DFB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96707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1787905-C316-B2C0-BAE6-F348DF82B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D1DDC163-5B26-2CE2-4C12-0603DC3088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471DB4BC-B3E7-3BC7-7A3A-EFBAC6989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94EF0-A0BF-435A-983B-C7C0AC811E79}" type="datetimeFigureOut">
              <a:rPr lang="hu-HU" smtClean="0"/>
              <a:t>2026. 02. 17.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43C0CE4-4F9B-0742-6993-543019968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F05DA4C5-CA63-9787-0A33-580C4C010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567B2-4E2D-434C-9D62-761DCF85DFB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69433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85422CE-5E87-D53D-BD5D-6EE167A5C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6089AB9-37EA-1FA0-06F6-91E42CC579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0D7EBD7A-984E-33FE-B2EA-FE684997FC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99F5F09B-58C9-BEF3-D595-9ABCCAFD1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94EF0-A0BF-435A-983B-C7C0AC811E79}" type="datetimeFigureOut">
              <a:rPr lang="hu-HU" smtClean="0"/>
              <a:t>2026. 02. 17.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6BB1B314-7337-D419-21DB-207939839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8C355B2E-3C0A-D706-801C-C404D3023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567B2-4E2D-434C-9D62-761DCF85DFB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67859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E429335-6060-B274-D68B-7787540A6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A429D254-3C53-A716-3836-BB989D5EB0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22B764F1-719A-255C-131E-024C1DE6C2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863A62F3-87D7-A15B-3F86-536E9443F9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5393C909-6D50-C5D3-318E-6A8113804A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D4CCEBCF-5605-1797-B49B-F0EABFF1D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94EF0-A0BF-435A-983B-C7C0AC811E79}" type="datetimeFigureOut">
              <a:rPr lang="hu-HU" smtClean="0"/>
              <a:t>2026. 02. 17.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5DB0D8C2-048D-B496-E601-5D18A8E99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41B60377-80C3-11CE-1999-0D0CB58D1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567B2-4E2D-434C-9D62-761DCF85DFB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47095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0948B22-BADA-9255-A74A-EB1877A0A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1B1A70A3-09B6-067A-278A-3F305E68B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94EF0-A0BF-435A-983B-C7C0AC811E79}" type="datetimeFigureOut">
              <a:rPr lang="hu-HU" smtClean="0"/>
              <a:t>2026. 02. 17.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E4258B80-C686-1516-8ACE-465ECBB46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DA64228F-E4E5-9E19-55A9-CF3949367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567B2-4E2D-434C-9D62-761DCF85DFB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09217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552D1DB9-9107-BA0A-78B4-71AB9CF24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94EF0-A0BF-435A-983B-C7C0AC811E79}" type="datetimeFigureOut">
              <a:rPr lang="hu-HU" smtClean="0"/>
              <a:t>2026. 02. 17.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4178AB55-842A-5D9E-A4BA-8892FDD0B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53BCA4B9-F7FF-6724-9324-726A098B0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567B2-4E2D-434C-9D62-761DCF85DFB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94726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DD98F36-ABBD-FBCB-7B7B-3DB1AA53C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AC2C8C5-1BA8-CE13-BA8B-EBE1A8CB62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1B8E7C83-A3FA-3C8B-5726-C6BA711BAC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4BED3525-5B30-5608-EF18-EC1B9FA58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94EF0-A0BF-435A-983B-C7C0AC811E79}" type="datetimeFigureOut">
              <a:rPr lang="hu-HU" smtClean="0"/>
              <a:t>2026. 02. 17.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D37CC8DC-F7FA-F561-5F92-8FA632841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E0702D06-DECB-033F-A171-F8137230D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567B2-4E2D-434C-9D62-761DCF85DFB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21938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2AE5AC6-3EEA-28AD-07D9-02F3727F6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52426E47-1FA8-1F55-30A6-5B5C03B41E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5BD2410B-FCCB-4F94-E06F-A16F0DE117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B0E41D0B-4A01-0E35-B7D2-9EEA5F769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94EF0-A0BF-435A-983B-C7C0AC811E79}" type="datetimeFigureOut">
              <a:rPr lang="hu-HU" smtClean="0"/>
              <a:t>2026. 02. 17.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2DD1C5B5-5C77-FCCA-E2E3-DCF932702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F2C2B928-8E8C-17DD-2A9B-C2ABAF75A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567B2-4E2D-434C-9D62-761DCF85DFB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27891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40517C5-AC99-73D1-8D63-E9485C72D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8B25B7EB-7728-3950-1F13-4FA801198D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96728DDE-6B7E-4A02-A880-809F10917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94EF0-A0BF-435A-983B-C7C0AC811E79}" type="datetimeFigureOut">
              <a:rPr lang="hu-HU" smtClean="0"/>
              <a:t>2026. 02. 17.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B5677C31-3924-5517-7790-9A5A490CA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534099F0-4E8F-0358-EE27-64698718E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567B2-4E2D-434C-9D62-761DCF85DFB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59472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5C781C31-561B-769E-BE97-4181D62A82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0B034519-7689-9BF6-3A9B-27635F8D09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3CCA0C23-D527-C404-3D0C-CB48B4903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94EF0-A0BF-435A-983B-C7C0AC811E79}" type="datetimeFigureOut">
              <a:rPr lang="hu-HU" smtClean="0"/>
              <a:t>2026. 02. 17.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929B16C-4CC8-9835-932E-23DE64CB1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A61EBD16-4D10-5CB1-F85C-32F975E74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567B2-4E2D-434C-9D62-761DCF85DFB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04609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B268F058-40E0-74B2-0948-F48ECD7FC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08DFB81C-AE3C-23DB-8805-F01DA6B0D2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BED3A01F-14B4-8A72-3547-85A78DA6DA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794EF0-A0BF-435A-983B-C7C0AC811E79}" type="datetimeFigureOut">
              <a:rPr lang="hu-HU" smtClean="0"/>
              <a:t>2026. 02. 17.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DA803FD3-9B9D-3AD4-5A6A-8CD32E03EB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B195BBEE-95C5-2900-B9E2-D855C53D51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6567B2-4E2D-434C-9D62-761DCF85DFB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77831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microsoft.com/office/2007/relationships/hdphoto" Target="../media/hdphoto1.wdp"/><Relationship Id="rId7" Type="http://schemas.openxmlformats.org/officeDocument/2006/relationships/diagramLayout" Target="../diagrams/layout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1.xml"/><Relationship Id="rId5" Type="http://schemas.microsoft.com/office/2007/relationships/hdphoto" Target="../media/hdphoto2.wdp"/><Relationship Id="rId10" Type="http://schemas.microsoft.com/office/2007/relationships/diagramDrawing" Target="../diagrams/drawing1.xml"/><Relationship Id="rId4" Type="http://schemas.openxmlformats.org/officeDocument/2006/relationships/image" Target="../media/image3.png"/><Relationship Id="rId9" Type="http://schemas.openxmlformats.org/officeDocument/2006/relationships/diagramColors" Target="../diagrams/colors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What is data science">
            <a:extLst>
              <a:ext uri="{FF2B5EF4-FFF2-40B4-BE49-F238E27FC236}">
                <a16:creationId xmlns:a16="http://schemas.microsoft.com/office/drawing/2014/main" id="{B005BBB5-E398-4D1C-181C-BFF9FDA666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989943" y="0"/>
            <a:ext cx="17268547" cy="6905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églalap 3">
            <a:extLst>
              <a:ext uri="{FF2B5EF4-FFF2-40B4-BE49-F238E27FC236}">
                <a16:creationId xmlns:a16="http://schemas.microsoft.com/office/drawing/2014/main" id="{381BCF79-D6C8-E98C-79F0-CC66E7F0B6A7}"/>
              </a:ext>
            </a:extLst>
          </p:cNvPr>
          <p:cNvSpPr/>
          <p:nvPr/>
        </p:nvSpPr>
        <p:spPr>
          <a:xfrm>
            <a:off x="-495300" y="-228600"/>
            <a:ext cx="13309599" cy="7708900"/>
          </a:xfrm>
          <a:prstGeom prst="rect">
            <a:avLst/>
          </a:prstGeom>
          <a:gradFill>
            <a:gsLst>
              <a:gs pos="0">
                <a:srgbClr val="686876"/>
              </a:gs>
              <a:gs pos="100000">
                <a:srgbClr val="F6F6F8">
                  <a:alpha val="60000"/>
                </a:srgbClr>
              </a:gs>
            </a:gsLst>
            <a:lin ang="108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D7208FC4-D274-E409-943E-E4019D15D3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noProof="1">
                <a:solidFill>
                  <a:srgbClr val="393941"/>
                </a:solidFill>
              </a:rPr>
              <a:t>PROJECT PRESENTATION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F77DD31F-46EA-5482-41F3-0E66ABF011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1">
                <a:solidFill>
                  <a:srgbClr val="686876"/>
                </a:solidFill>
              </a:rPr>
              <a:t>Levente Sélley</a:t>
            </a:r>
          </a:p>
          <a:p>
            <a:r>
              <a:rPr lang="en-US" noProof="1">
                <a:solidFill>
                  <a:srgbClr val="686876"/>
                </a:solidFill>
              </a:rPr>
              <a:t>Gergő Zalaváry</a:t>
            </a:r>
          </a:p>
          <a:p>
            <a:r>
              <a:rPr lang="en-US" noProof="1">
                <a:solidFill>
                  <a:srgbClr val="686876"/>
                </a:solidFill>
              </a:rPr>
              <a:t>Fabó Leon Tompos</a:t>
            </a:r>
          </a:p>
        </p:txBody>
      </p:sp>
    </p:spTree>
    <p:extLst>
      <p:ext uri="{BB962C8B-B14F-4D97-AF65-F5344CB8AC3E}">
        <p14:creationId xmlns:p14="http://schemas.microsoft.com/office/powerpoint/2010/main" val="10178222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5" name="Picture 11" descr="Tesla Logo: Unraveling the Mystique Behind the Iconic Emblem -  GraphicSprings">
            <a:extLst>
              <a:ext uri="{FF2B5EF4-FFF2-40B4-BE49-F238E27FC236}">
                <a16:creationId xmlns:a16="http://schemas.microsoft.com/office/drawing/2014/main" id="{4CA34B68-579C-8A7C-17BE-A008F9AC0C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1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4191" y="3429000"/>
            <a:ext cx="7787097" cy="3796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7">
            <a:extLst>
              <a:ext uri="{FF2B5EF4-FFF2-40B4-BE49-F238E27FC236}">
                <a16:creationId xmlns:a16="http://schemas.microsoft.com/office/drawing/2014/main" id="{417327F6-6B13-E587-6380-38DFD374FF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 amt="1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3125" y="2172266"/>
            <a:ext cx="5400675" cy="1625828"/>
          </a:xfrm>
          <a:prstGeom prst="rect">
            <a:avLst/>
          </a:prstGeom>
          <a:noFill/>
          <a:effectLst>
            <a:outerShdw sx="1000" sy="1000" algn="ctr" rotWithShape="0">
              <a:srgbClr val="00000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FDB8AC67-F96E-F5D7-65D6-CDF443045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noProof="1">
                <a:solidFill>
                  <a:srgbClr val="686876"/>
                </a:solidFill>
              </a:rPr>
              <a:t>PREVIOUS SUCCESSFUL PROJECTS</a:t>
            </a:r>
          </a:p>
        </p:txBody>
      </p:sp>
      <p:graphicFrame>
        <p:nvGraphicFramePr>
          <p:cNvPr id="1037" name="Tartalom helye 2">
            <a:extLst>
              <a:ext uri="{FF2B5EF4-FFF2-40B4-BE49-F238E27FC236}">
                <a16:creationId xmlns:a16="http://schemas.microsoft.com/office/drawing/2014/main" id="{155839B6-A2F4-F99F-992C-9543A6BD1A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6115874"/>
              </p:ext>
            </p:extLst>
          </p:nvPr>
        </p:nvGraphicFramePr>
        <p:xfrm>
          <a:off x="838200" y="1690688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11100501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8B8BA59-69A1-EAAC-D902-9409FFC5C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noProof="1">
                <a:solidFill>
                  <a:srgbClr val="686876"/>
                </a:solidFill>
              </a:rPr>
              <a:t>POTENTIAL PROJECT IDEA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F85939D-A31E-477C-CBAF-53E04DAFE0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b="1">
                <a:solidFill>
                  <a:srgbClr val="686876"/>
                </a:solidFill>
              </a:rPr>
              <a:t>Customer </a:t>
            </a:r>
            <a:r>
              <a:rPr lang="hu-HU" sz="3200" b="1">
                <a:solidFill>
                  <a:srgbClr val="686876"/>
                </a:solidFill>
              </a:rPr>
              <a:t>c</a:t>
            </a:r>
            <a:r>
              <a:rPr lang="en-US" sz="3200" b="1" err="1">
                <a:solidFill>
                  <a:srgbClr val="686876"/>
                </a:solidFill>
              </a:rPr>
              <a:t>hurn</a:t>
            </a:r>
            <a:r>
              <a:rPr lang="en-US" sz="3200" b="1">
                <a:solidFill>
                  <a:srgbClr val="686876"/>
                </a:solidFill>
              </a:rPr>
              <a:t> </a:t>
            </a:r>
            <a:r>
              <a:rPr lang="hu-HU" sz="3200" b="1">
                <a:solidFill>
                  <a:srgbClr val="686876"/>
                </a:solidFill>
              </a:rPr>
              <a:t>p</a:t>
            </a:r>
            <a:r>
              <a:rPr lang="en-US" sz="3200" b="1" err="1">
                <a:solidFill>
                  <a:srgbClr val="686876"/>
                </a:solidFill>
              </a:rPr>
              <a:t>rediction</a:t>
            </a:r>
            <a:r>
              <a:rPr lang="en-US" sz="3200" b="1">
                <a:solidFill>
                  <a:srgbClr val="686876"/>
                </a:solidFill>
              </a:rPr>
              <a:t> for a </a:t>
            </a:r>
            <a:r>
              <a:rPr lang="hu-HU" sz="3200" b="1">
                <a:solidFill>
                  <a:srgbClr val="686876"/>
                </a:solidFill>
              </a:rPr>
              <a:t>s</a:t>
            </a:r>
            <a:r>
              <a:rPr lang="en-US" sz="3200" b="1" err="1">
                <a:solidFill>
                  <a:srgbClr val="686876"/>
                </a:solidFill>
              </a:rPr>
              <a:t>ubscription</a:t>
            </a:r>
            <a:r>
              <a:rPr lang="en-US" sz="3200" b="1">
                <a:solidFill>
                  <a:srgbClr val="686876"/>
                </a:solidFill>
              </a:rPr>
              <a:t> </a:t>
            </a:r>
            <a:r>
              <a:rPr lang="hu-HU" sz="3200" b="1">
                <a:solidFill>
                  <a:srgbClr val="686876"/>
                </a:solidFill>
              </a:rPr>
              <a:t>s</a:t>
            </a:r>
            <a:r>
              <a:rPr lang="en-US" sz="3200" b="1" err="1">
                <a:solidFill>
                  <a:srgbClr val="686876"/>
                </a:solidFill>
              </a:rPr>
              <a:t>ervice</a:t>
            </a:r>
            <a:endParaRPr lang="hu-HU" sz="3200" b="1">
              <a:solidFill>
                <a:srgbClr val="686876"/>
              </a:solidFill>
            </a:endParaRPr>
          </a:p>
          <a:p>
            <a:r>
              <a:rPr lang="hu-HU" noProof="1">
                <a:solidFill>
                  <a:srgbClr val="686876"/>
                </a:solidFill>
              </a:rPr>
              <a:t>Fictional video streaming company </a:t>
            </a:r>
          </a:p>
          <a:p>
            <a:r>
              <a:rPr lang="en-US" b="1" noProof="1">
                <a:solidFill>
                  <a:srgbClr val="686876"/>
                </a:solidFill>
              </a:rPr>
              <a:t>Problem</a:t>
            </a:r>
            <a:r>
              <a:rPr lang="en-US" noProof="1">
                <a:solidFill>
                  <a:srgbClr val="686876"/>
                </a:solidFill>
              </a:rPr>
              <a:t>: Every month some users </a:t>
            </a:r>
            <a:r>
              <a:rPr lang="hu-HU" noProof="1">
                <a:solidFill>
                  <a:srgbClr val="686876"/>
                </a:solidFill>
              </a:rPr>
              <a:t>unsubscribe</a:t>
            </a:r>
            <a:endParaRPr lang="en-US" noProof="1">
              <a:solidFill>
                <a:srgbClr val="686876"/>
              </a:solidFill>
            </a:endParaRPr>
          </a:p>
          <a:p>
            <a:r>
              <a:rPr lang="en-US" b="1" noProof="1">
                <a:solidFill>
                  <a:srgbClr val="686876"/>
                </a:solidFill>
              </a:rPr>
              <a:t>Goal</a:t>
            </a:r>
            <a:r>
              <a:rPr lang="en-US" noProof="1">
                <a:solidFill>
                  <a:srgbClr val="686876"/>
                </a:solidFill>
              </a:rPr>
              <a:t>: Predict which users are likely to churn </a:t>
            </a:r>
            <a:endParaRPr lang="hu-HU" noProof="1">
              <a:solidFill>
                <a:srgbClr val="686876"/>
              </a:solidFill>
            </a:endParaRPr>
          </a:p>
          <a:p>
            <a:pPr marL="0" indent="0">
              <a:buNone/>
            </a:pPr>
            <a:r>
              <a:rPr lang="hu-HU" noProof="1">
                <a:solidFill>
                  <a:srgbClr val="686876"/>
                </a:solidFill>
                <a:sym typeface="Wingdings" panose="05000000000000000000" pitchFamily="2" charset="2"/>
              </a:rPr>
              <a:t>	 </a:t>
            </a:r>
            <a:r>
              <a:rPr lang="en-US" noProof="1">
                <a:solidFill>
                  <a:srgbClr val="686876"/>
                </a:solidFill>
              </a:rPr>
              <a:t>the company can offer targeted retention actions </a:t>
            </a:r>
            <a:r>
              <a:rPr lang="hu-HU" noProof="1">
                <a:solidFill>
                  <a:srgbClr val="686876"/>
                </a:solidFill>
              </a:rPr>
              <a:t>			</a:t>
            </a:r>
            <a:r>
              <a:rPr lang="en-US" noProof="1">
                <a:solidFill>
                  <a:srgbClr val="686876"/>
                </a:solidFill>
              </a:rPr>
              <a:t>(discounts, emails, recommendations)</a:t>
            </a:r>
            <a:endParaRPr lang="hu-HU" noProof="1">
              <a:solidFill>
                <a:srgbClr val="686876"/>
              </a:solidFill>
            </a:endParaRPr>
          </a:p>
          <a:p>
            <a:endParaRPr lang="hu-HU" noProof="1">
              <a:solidFill>
                <a:srgbClr val="686876"/>
              </a:solidFill>
            </a:endParaRPr>
          </a:p>
          <a:p>
            <a:endParaRPr lang="en-US" noProof="1">
              <a:solidFill>
                <a:srgbClr val="68687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21448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99CB3E0-8CE8-5282-40E2-5BFCE808A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noProof="1">
                <a:solidFill>
                  <a:srgbClr val="686876"/>
                </a:solidFill>
              </a:rPr>
              <a:t>USABLE DATASETS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33EFA30-B0AD-CC8D-09BF-6A6634BE55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hu-HU" sz="3600" b="1" noProof="1">
                <a:solidFill>
                  <a:srgbClr val="686876"/>
                </a:solidFill>
              </a:rPr>
              <a:t>Streaming Service Data</a:t>
            </a:r>
          </a:p>
          <a:p>
            <a:r>
              <a:rPr lang="hu-HU" noProof="1">
                <a:solidFill>
                  <a:srgbClr val="686876"/>
                </a:solidFill>
              </a:rPr>
              <a:t>https://www.kaggle.com/datasets/akashanandt/streaming-service-data</a:t>
            </a:r>
          </a:p>
          <a:p>
            <a:pPr marL="0" indent="0">
              <a:buNone/>
            </a:pPr>
            <a:endParaRPr lang="en-US" noProof="1">
              <a:solidFill>
                <a:srgbClr val="686876"/>
              </a:solidFill>
            </a:endParaRPr>
          </a:p>
          <a:p>
            <a:r>
              <a:rPr lang="en-US" b="1" noProof="1">
                <a:solidFill>
                  <a:srgbClr val="686876"/>
                </a:solidFill>
              </a:rPr>
              <a:t>Customer_ID</a:t>
            </a:r>
            <a:r>
              <a:rPr lang="en-US" noProof="1">
                <a:solidFill>
                  <a:srgbClr val="686876"/>
                </a:solidFill>
              </a:rPr>
              <a:t>: A unique identifier for each customer (object type).</a:t>
            </a:r>
          </a:p>
          <a:p>
            <a:r>
              <a:rPr lang="en-US" b="1" noProof="1">
                <a:solidFill>
                  <a:srgbClr val="686876"/>
                </a:solidFill>
              </a:rPr>
              <a:t>Age</a:t>
            </a:r>
            <a:r>
              <a:rPr lang="en-US" noProof="1">
                <a:solidFill>
                  <a:srgbClr val="686876"/>
                </a:solidFill>
              </a:rPr>
              <a:t>: The age of the customer (float64), with some missing values.</a:t>
            </a:r>
          </a:p>
          <a:p>
            <a:r>
              <a:rPr lang="en-US" b="1" noProof="1">
                <a:solidFill>
                  <a:srgbClr val="686876"/>
                </a:solidFill>
              </a:rPr>
              <a:t>Gender</a:t>
            </a:r>
            <a:r>
              <a:rPr lang="en-US" noProof="1">
                <a:solidFill>
                  <a:srgbClr val="686876"/>
                </a:solidFill>
              </a:rPr>
              <a:t>: The gender of the customer (object type).</a:t>
            </a:r>
          </a:p>
          <a:p>
            <a:r>
              <a:rPr lang="en-US" b="1" noProof="1">
                <a:solidFill>
                  <a:srgbClr val="686876"/>
                </a:solidFill>
              </a:rPr>
              <a:t>Subscription_Length</a:t>
            </a:r>
            <a:r>
              <a:rPr lang="en-US" noProof="1">
                <a:solidFill>
                  <a:srgbClr val="686876"/>
                </a:solidFill>
              </a:rPr>
              <a:t>: The length of time (in months) the customer has been subscribed (int64).</a:t>
            </a:r>
          </a:p>
          <a:p>
            <a:r>
              <a:rPr lang="en-US" b="1" noProof="1">
                <a:solidFill>
                  <a:srgbClr val="686876"/>
                </a:solidFill>
              </a:rPr>
              <a:t>Region</a:t>
            </a:r>
            <a:r>
              <a:rPr lang="en-US" noProof="1">
                <a:solidFill>
                  <a:srgbClr val="686876"/>
                </a:solidFill>
              </a:rPr>
              <a:t>: The region where the customer is located (object type).</a:t>
            </a:r>
          </a:p>
          <a:p>
            <a:r>
              <a:rPr lang="en-US" b="1" noProof="1">
                <a:solidFill>
                  <a:srgbClr val="686876"/>
                </a:solidFill>
              </a:rPr>
              <a:t>Payment_Method</a:t>
            </a:r>
            <a:r>
              <a:rPr lang="en-US" noProof="1">
                <a:solidFill>
                  <a:srgbClr val="686876"/>
                </a:solidFill>
              </a:rPr>
              <a:t>: The method used by the customer to make payments (object type).</a:t>
            </a:r>
          </a:p>
          <a:p>
            <a:r>
              <a:rPr lang="en-US" b="1" noProof="1">
                <a:solidFill>
                  <a:srgbClr val="686876"/>
                </a:solidFill>
              </a:rPr>
              <a:t>Support_Tickets_Raised</a:t>
            </a:r>
            <a:r>
              <a:rPr lang="en-US" noProof="1">
                <a:solidFill>
                  <a:srgbClr val="686876"/>
                </a:solidFill>
              </a:rPr>
              <a:t>: The number of support tickets raised by the customer (int64).</a:t>
            </a:r>
          </a:p>
          <a:p>
            <a:r>
              <a:rPr lang="en-US" b="1" noProof="1">
                <a:solidFill>
                  <a:srgbClr val="686876"/>
                </a:solidFill>
              </a:rPr>
              <a:t>Satisfaction_Score</a:t>
            </a:r>
            <a:r>
              <a:rPr lang="en-US" noProof="1">
                <a:solidFill>
                  <a:srgbClr val="686876"/>
                </a:solidFill>
              </a:rPr>
              <a:t>: A score indicating customer satisfaction (float64), with some missing values.</a:t>
            </a:r>
          </a:p>
          <a:p>
            <a:r>
              <a:rPr lang="en-US" b="1" noProof="1">
                <a:solidFill>
                  <a:srgbClr val="686876"/>
                </a:solidFill>
              </a:rPr>
              <a:t>Discount_Offered</a:t>
            </a:r>
            <a:r>
              <a:rPr lang="en-US" noProof="1">
                <a:solidFill>
                  <a:srgbClr val="686876"/>
                </a:solidFill>
              </a:rPr>
              <a:t>: The discount offered to the customer (float64).</a:t>
            </a:r>
          </a:p>
          <a:p>
            <a:r>
              <a:rPr lang="en-US" b="1" noProof="1">
                <a:solidFill>
                  <a:srgbClr val="686876"/>
                </a:solidFill>
              </a:rPr>
              <a:t>Last_Activity</a:t>
            </a:r>
            <a:r>
              <a:rPr lang="en-US" noProof="1">
                <a:solidFill>
                  <a:srgbClr val="686876"/>
                </a:solidFill>
              </a:rPr>
              <a:t>: The number of days since the customer last interacted with the service (int64).</a:t>
            </a:r>
          </a:p>
          <a:p>
            <a:r>
              <a:rPr lang="en-US" b="1" noProof="1">
                <a:solidFill>
                  <a:srgbClr val="686876"/>
                </a:solidFill>
              </a:rPr>
              <a:t>Monthly_Spend</a:t>
            </a:r>
            <a:r>
              <a:rPr lang="en-US" noProof="1">
                <a:solidFill>
                  <a:srgbClr val="686876"/>
                </a:solidFill>
              </a:rPr>
              <a:t>: The amount spent by the customer per month (float64).</a:t>
            </a:r>
          </a:p>
          <a:p>
            <a:r>
              <a:rPr lang="en-US" b="1" noProof="1">
                <a:solidFill>
                  <a:srgbClr val="686876"/>
                </a:solidFill>
              </a:rPr>
              <a:t>Churned</a:t>
            </a:r>
            <a:r>
              <a:rPr lang="en-US" noProof="1">
                <a:solidFill>
                  <a:srgbClr val="686876"/>
                </a:solidFill>
              </a:rPr>
              <a:t>: Indicates whether the customer has churned (1 = yes, 0 = no) (int64).</a:t>
            </a:r>
          </a:p>
        </p:txBody>
      </p:sp>
    </p:spTree>
    <p:extLst>
      <p:ext uri="{BB962C8B-B14F-4D97-AF65-F5344CB8AC3E}">
        <p14:creationId xmlns:p14="http://schemas.microsoft.com/office/powerpoint/2010/main" val="4455198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364</Words>
  <Application>Microsoft Office PowerPoint</Application>
  <PresentationFormat>Szélesvásznú</PresentationFormat>
  <Paragraphs>36</Paragraphs>
  <Slides>4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Wingdings</vt:lpstr>
      <vt:lpstr>Office-téma</vt:lpstr>
      <vt:lpstr>PROJECT PRESENTATION</vt:lpstr>
      <vt:lpstr>PREVIOUS SUCCESSFUL PROJECTS</vt:lpstr>
      <vt:lpstr>POTENTIAL PROJECT IDEA</vt:lpstr>
      <vt:lpstr>USABLE DATASETS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Tompos Fabó Leon</dc:creator>
  <cp:lastModifiedBy>Tompos Fabó Leon</cp:lastModifiedBy>
  <cp:revision>2</cp:revision>
  <dcterms:created xsi:type="dcterms:W3CDTF">2026-02-17T13:10:42Z</dcterms:created>
  <dcterms:modified xsi:type="dcterms:W3CDTF">2026-02-17T14:10:00Z</dcterms:modified>
</cp:coreProperties>
</file>